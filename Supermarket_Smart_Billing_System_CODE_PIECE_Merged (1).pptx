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tGPT Image Oct 14, 2026, 09_33_04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4B8A6"/>
                </a:solidFill>
                <a:latin typeface="Aptos"/>
              </a:defRPr>
            </a:pPr>
            <a:r>
              <a:t>02  /  SMART BILLING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The Problem: Checkout Takes Too Long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7C4D8"/>
                </a:solidFill>
                <a:latin typeface="Aptos"/>
              </a:defRPr>
            </a:pPr>
            <a:r>
              <a:t>A familiar customer pain point creates a store-wide operational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27080" cy="22860"/>
          </a:xfrm>
          <a:prstGeom prst="rect">
            <a:avLst/>
          </a:prstGeom>
          <a:solidFill>
            <a:srgbClr val="182642"/>
          </a:solidFill>
          <a:ln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B7C4D8"/>
                </a:solidFill>
                <a:latin typeface="Aptos"/>
              </a:defRPr>
            </a:pPr>
            <a:r>
              <a:t>HACKATHON CONCEPT  •  SMART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B8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429000" cy="205740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64008" cy="2057400"/>
          </a:xfrm>
          <a:prstGeom prst="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3055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FB923C"/>
                </a:solidFill>
                <a:latin typeface="Aptos"/>
              </a:defRPr>
            </a:pPr>
            <a:r>
              <a:t>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130552"/>
            <a:ext cx="24688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Long queues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97180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Manual scanning and payment steps slow down busy checkout counters.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65960"/>
            <a:ext cx="3429000" cy="205740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965960"/>
            <a:ext cx="64008" cy="205740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13055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38BDF8"/>
                </a:solidFill>
                <a:latin typeface="Aptos"/>
              </a:defRPr>
            </a:pPr>
            <a:r>
              <a:t>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130552"/>
            <a:ext cx="24688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Repeated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624328"/>
            <a:ext cx="297180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Products are picked up, scanned, packed, and sometimes scanned again.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965960"/>
            <a:ext cx="3429000" cy="205740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965960"/>
            <a:ext cx="64008" cy="20574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13055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14B8A6"/>
                </a:solidFill>
                <a:latin typeface="Aptos"/>
              </a:defRPr>
            </a:pPr>
            <a:r>
              <a:t>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2130552"/>
            <a:ext cx="24688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Limited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24328"/>
            <a:ext cx="297180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Customers may not know their running total until checkout.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1371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B8A6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074920"/>
            <a:ext cx="109728" cy="109728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4983480"/>
            <a:ext cx="98115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F8FAFC"/>
                </a:solidFill>
                <a:latin typeface="Aptos"/>
              </a:defRPr>
            </a:pPr>
            <a:r>
              <a:t>Customer frustration and lost time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458968"/>
            <a:ext cx="109728" cy="109728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5367528"/>
            <a:ext cx="98115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F8FAFC"/>
                </a:solidFill>
                <a:latin typeface="Aptos"/>
              </a:defRPr>
            </a:pPr>
            <a:r>
              <a:t>Peak-hour pressure on cashiers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5843016"/>
            <a:ext cx="109728" cy="109728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5751576"/>
            <a:ext cx="98115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F8FAFC"/>
                </a:solidFill>
                <a:latin typeface="Aptos"/>
              </a:defRPr>
            </a:pPr>
            <a:r>
              <a:t>Crowding can reduce the overall shopping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4B8A6"/>
                </a:solidFill>
                <a:latin typeface="Aptos"/>
              </a:defRPr>
            </a:pPr>
            <a:r>
              <a:t>03  /  SMART BILLING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Our Solution: A Connected Smart-Billing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7C4D8"/>
                </a:solidFill>
                <a:latin typeface="Aptos"/>
              </a:defRPr>
            </a:pPr>
            <a:r>
              <a:t>Combine QR-based product information, RFID-assisted identification, and digital payment.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27080" cy="22860"/>
          </a:xfrm>
          <a:prstGeom prst="rect">
            <a:avLst/>
          </a:prstGeom>
          <a:solidFill>
            <a:srgbClr val="182642"/>
          </a:solidFill>
          <a:ln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B7C4D8"/>
                </a:solidFill>
                <a:latin typeface="Aptos"/>
              </a:defRPr>
            </a:pPr>
            <a:r>
              <a:t>HACKATHON CONCEPT  •  SMART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B8A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600200" cy="1508760"/>
          </a:xfrm>
          <a:prstGeom prst="roundRect">
            <a:avLst/>
          </a:prstGeom>
          <a:solidFill>
            <a:srgbClr val="182642"/>
          </a:solidFill>
          <a:ln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52728" y="1938528"/>
            <a:ext cx="548640" cy="54864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084831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0F172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06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Pick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99232"/>
            <a:ext cx="1371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B7C4D8"/>
                </a:solidFill>
                <a:latin typeface="Aptos"/>
              </a:defRPr>
            </a:pPr>
            <a:r>
              <a:t>Product carries QR / RFID 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286000"/>
            <a:ext cx="1600200" cy="1508760"/>
          </a:xfrm>
          <a:prstGeom prst="roundRect">
            <a:avLst/>
          </a:prstGeom>
          <a:solidFill>
            <a:srgbClr val="182642"/>
          </a:solidFill>
          <a:ln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4448" y="1938528"/>
            <a:ext cx="548640" cy="548640"/>
          </a:xfrm>
          <a:prstGeom prst="ellipse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084831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0F172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2606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2999232"/>
            <a:ext cx="1371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B7C4D8"/>
                </a:solidFill>
                <a:latin typeface="Aptos"/>
              </a:defRPr>
            </a:pPr>
            <a:r>
              <a:t>Smart cart or reader detects item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2286000"/>
            <a:ext cx="1600200" cy="1508760"/>
          </a:xfrm>
          <a:prstGeom prst="roundRect">
            <a:avLst/>
          </a:prstGeom>
          <a:solidFill>
            <a:srgbClr val="182642"/>
          </a:solidFill>
          <a:ln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16168" y="1938528"/>
            <a:ext cx="548640" cy="548640"/>
          </a:xfrm>
          <a:prstGeom prst="ellipse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16168" y="2084831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0F172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2606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Live bill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2999232"/>
            <a:ext cx="1371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B7C4D8"/>
                </a:solidFill>
                <a:latin typeface="Aptos"/>
              </a:defRPr>
            </a:pPr>
            <a:r>
              <a:t>Cart display updates total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2286000"/>
            <a:ext cx="1600200" cy="1508760"/>
          </a:xfrm>
          <a:prstGeom prst="roundRect">
            <a:avLst/>
          </a:prstGeom>
          <a:solidFill>
            <a:srgbClr val="182642"/>
          </a:solidFill>
          <a:ln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7888" y="1938528"/>
            <a:ext cx="548640" cy="5486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2084831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0F172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7" y="2606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Pay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7" y="2999232"/>
            <a:ext cx="1371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B7C4D8"/>
                </a:solidFill>
                <a:latin typeface="Aptos"/>
              </a:defRPr>
            </a:pPr>
            <a:r>
              <a:t>Customer confirms and pays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2286000"/>
            <a:ext cx="1600200" cy="1508760"/>
          </a:xfrm>
          <a:prstGeom prst="roundRect">
            <a:avLst/>
          </a:prstGeom>
          <a:solidFill>
            <a:srgbClr val="182642"/>
          </a:solidFill>
          <a:ln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79608" y="1938528"/>
            <a:ext cx="548640" cy="54864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79608" y="2084831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0F172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8128" y="2606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8128" y="2999232"/>
            <a:ext cx="1371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B7C4D8"/>
                </a:solidFill>
                <a:latin typeface="Aptos"/>
              </a:defRPr>
            </a:pPr>
            <a:r>
              <a:t>Receipt + security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9152" y="278892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0872" y="278892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278892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4312" y="278892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" y="4709160"/>
            <a:ext cx="10149840" cy="749808"/>
          </a:xfrm>
          <a:prstGeom prst="roundRect">
            <a:avLst/>
          </a:prstGeom>
          <a:solidFill>
            <a:srgbClr val="113942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4928616"/>
            <a:ext cx="9692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Goal: reduce checkout friction while keeping billing transparent and store security in the loop.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4B8A6"/>
                </a:solidFill>
                <a:latin typeface="Aptos"/>
              </a:defRPr>
            </a:pPr>
            <a:r>
              <a:t>04  /  SMART BILLING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Technology Stack: QR + RFID +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7C4D8"/>
                </a:solidFill>
                <a:latin typeface="Aptos"/>
              </a:defRPr>
            </a:pPr>
            <a:r>
              <a:t>Use each technology where it adds the most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27080" cy="22860"/>
          </a:xfrm>
          <a:prstGeom prst="rect">
            <a:avLst/>
          </a:prstGeom>
          <a:solidFill>
            <a:srgbClr val="182642"/>
          </a:solidFill>
          <a:ln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B7C4D8"/>
                </a:solidFill>
                <a:latin typeface="Aptos"/>
              </a:defRPr>
            </a:pPr>
            <a:r>
              <a:t>HACKATHON CONCEPT  •  SMART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B8A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74720" cy="242316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42316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14B8A6"/>
                </a:solidFill>
                <a:latin typeface="Aptos"/>
              </a:defRPr>
            </a:pPr>
            <a:r>
              <a:t>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93392"/>
            <a:ext cx="2514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QR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3017520" cy="1645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• Low-cost printed code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• Scan to view product details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• Useful for customer self-check and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28800"/>
            <a:ext cx="3474720" cy="242316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828800"/>
            <a:ext cx="64008" cy="2423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9339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38BDF8"/>
                </a:solidFill>
                <a:latin typeface="Aptos"/>
              </a:defRPr>
            </a:pPr>
            <a: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93392"/>
            <a:ext cx="2514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RFID tag + reader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487168"/>
            <a:ext cx="3017520" cy="1645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• Radio-based tag identification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• Can read multiple tagged items quickly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• Supports inventory and exit-gate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28800"/>
            <a:ext cx="3474720" cy="242316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828800"/>
            <a:ext cx="64008" cy="2423160"/>
          </a:xfrm>
          <a:prstGeom prst="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99339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FB923C"/>
                </a:solidFill>
                <a:latin typeface="Aptos"/>
              </a:defRPr>
            </a:pPr>
            <a:r>
              <a:t>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993392"/>
            <a:ext cx="2514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Billing app +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87168"/>
            <a:ext cx="3017520" cy="1645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• Product catalogue and prices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• Cart total, discounts, and tax rules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• Payment status and e-receipt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83480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7C4D8"/>
                </a:solidFill>
                <a:latin typeface="Aptos"/>
              </a:defRPr>
            </a:pPr>
            <a:r>
              <a:t>Design note: QR requires a camera and line of sight; RFID needs compatible tags/readers and careful tuning.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4B8A6"/>
                </a:solidFill>
                <a:latin typeface="Aptos"/>
              </a:defRPr>
            </a:pPr>
            <a:r>
              <a:t>05  /  SMART BILLING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How It Works: From Shelf to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7C4D8"/>
                </a:solidFill>
                <a:latin typeface="Aptos"/>
              </a:defRPr>
            </a:pPr>
            <a:r>
              <a:t>A simple flow keeps the customer informed at every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27080" cy="22860"/>
          </a:xfrm>
          <a:prstGeom prst="rect">
            <a:avLst/>
          </a:prstGeom>
          <a:solidFill>
            <a:srgbClr val="182642"/>
          </a:solidFill>
          <a:ln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B7C4D8"/>
                </a:solidFill>
                <a:latin typeface="Aptos"/>
              </a:defRPr>
            </a:pPr>
            <a:r>
              <a:t>HACKATHON CONCEPT  •  SMART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B8A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19656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Register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82880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7C4D8"/>
                </a:solidFill>
                <a:latin typeface="Aptos"/>
              </a:defRPr>
            </a:pPr>
            <a:r>
              <a:t>Scan QR or detect RFID tag.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2286000"/>
            <a:ext cx="0" cy="292608"/>
          </a:xfrm>
          <a:prstGeom prst="line">
            <a:avLst/>
          </a:prstGeom>
          <a:ln w="25400">
            <a:solidFill>
              <a:srgbClr val="3E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68680" y="2633472"/>
            <a:ext cx="457200" cy="45720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52344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24328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Validate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633472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7C4D8"/>
                </a:solidFill>
                <a:latin typeface="Aptos"/>
              </a:defRPr>
            </a:pPr>
            <a:r>
              <a:t>Look up SKU, price, and offers.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97280" y="3090672"/>
            <a:ext cx="0" cy="292607"/>
          </a:xfrm>
          <a:prstGeom prst="line">
            <a:avLst/>
          </a:prstGeom>
          <a:ln w="25400">
            <a:solidFill>
              <a:srgbClr val="3E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68680" y="3438144"/>
            <a:ext cx="457200" cy="45720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57015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429000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Update cart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438144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7C4D8"/>
                </a:solidFill>
                <a:latin typeface="Aptos"/>
              </a:defRPr>
            </a:pPr>
            <a:r>
              <a:t>Add item and recalculate total.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7280" y="3895344"/>
            <a:ext cx="0" cy="292608"/>
          </a:xfrm>
          <a:prstGeom prst="line">
            <a:avLst/>
          </a:prstGeom>
          <a:ln w="25400">
            <a:solidFill>
              <a:srgbClr val="3E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68680" y="4242816"/>
            <a:ext cx="457200" cy="45720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6168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33672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Review &amp; pay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242816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7C4D8"/>
                </a:solidFill>
                <a:latin typeface="Aptos"/>
              </a:defRPr>
            </a:pPr>
            <a:r>
              <a:t>Customer confirms bill and pays.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97280" y="4700016"/>
            <a:ext cx="0" cy="292608"/>
          </a:xfrm>
          <a:prstGeom prst="line">
            <a:avLst/>
          </a:prstGeom>
          <a:ln w="25400">
            <a:solidFill>
              <a:srgbClr val="3E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68680" y="5047488"/>
            <a:ext cx="457200" cy="457200"/>
          </a:xfrm>
          <a:prstGeom prst="ellipse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166359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0F172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038344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Verify exit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5047488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7C4D8"/>
                </a:solidFill>
                <a:latin typeface="Aptos"/>
              </a:defRPr>
            </a:pPr>
            <a:r>
              <a:t>Receipt / payment token supports exit check.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5394960"/>
            <a:ext cx="2194560" cy="594360"/>
          </a:xfrm>
          <a:prstGeom prst="roundRect">
            <a:avLst/>
          </a:prstGeom>
          <a:solidFill>
            <a:srgbClr val="113942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5577840"/>
            <a:ext cx="1965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4ADE80"/>
                </a:solidFill>
                <a:latin typeface="Aptos"/>
              </a:defRPr>
            </a:pPr>
            <a:r>
              <a:t>✓  DIGITAL RECEIPT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4B8A6"/>
                </a:solidFill>
                <a:latin typeface="Aptos"/>
              </a:defRPr>
            </a:pPr>
            <a:r>
              <a:t>06  /  SMART BILLING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Bonus Feature: Find Products in the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7C4D8"/>
                </a:solidFill>
                <a:latin typeface="Aptos"/>
              </a:defRPr>
            </a:pPr>
            <a:r>
              <a:t>An aisle map can guide shoppers to the right shelf and reduce wandering.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27080" cy="22860"/>
          </a:xfrm>
          <a:prstGeom prst="rect">
            <a:avLst/>
          </a:prstGeom>
          <a:solidFill>
            <a:srgbClr val="182642"/>
          </a:solidFill>
          <a:ln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B7C4D8"/>
                </a:solidFill>
                <a:latin typeface="Aptos"/>
              </a:defRPr>
            </a:pPr>
            <a:r>
              <a:t>HACKATHON CONCEPT  •  SMART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B8A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6583680" cy="3977639"/>
          </a:xfrm>
          <a:prstGeom prst="roundRect">
            <a:avLst/>
          </a:prstGeom>
          <a:solidFill>
            <a:srgbClr val="182642"/>
          </a:solidFill>
          <a:ln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2331720"/>
            <a:ext cx="777240" cy="2423160"/>
          </a:xfrm>
          <a:prstGeom prst="roundRect">
            <a:avLst/>
          </a:prstGeom>
          <a:solidFill>
            <a:srgbClr val="2B3E56"/>
          </a:solidFill>
          <a:ln>
            <a:solidFill>
              <a:srgbClr val="3E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5607" y="2487168"/>
            <a:ext cx="557784" cy="18288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35607" y="2880360"/>
            <a:ext cx="557784" cy="1828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35607" y="3273552"/>
            <a:ext cx="557784" cy="182880"/>
          </a:xfrm>
          <a:prstGeom prst="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35607" y="3666744"/>
            <a:ext cx="557784" cy="18288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35607" y="4059936"/>
            <a:ext cx="557784" cy="182880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51760" y="2331720"/>
            <a:ext cx="777240" cy="2423160"/>
          </a:xfrm>
          <a:prstGeom prst="roundRect">
            <a:avLst/>
          </a:prstGeom>
          <a:solidFill>
            <a:srgbClr val="2B3E56"/>
          </a:solidFill>
          <a:ln>
            <a:solidFill>
              <a:srgbClr val="3E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61488" y="2487168"/>
            <a:ext cx="557784" cy="1828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61488" y="2880360"/>
            <a:ext cx="557784" cy="182880"/>
          </a:xfrm>
          <a:prstGeom prst="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61488" y="3273552"/>
            <a:ext cx="557784" cy="18288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61488" y="3666744"/>
            <a:ext cx="557784" cy="182880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61488" y="4059936"/>
            <a:ext cx="557784" cy="18288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77639" y="2331720"/>
            <a:ext cx="777240" cy="2423160"/>
          </a:xfrm>
          <a:prstGeom prst="roundRect">
            <a:avLst/>
          </a:prstGeom>
          <a:solidFill>
            <a:srgbClr val="2B3E56"/>
          </a:solidFill>
          <a:ln>
            <a:solidFill>
              <a:srgbClr val="3E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87368" y="2487168"/>
            <a:ext cx="557784" cy="182880"/>
          </a:xfrm>
          <a:prstGeom prst="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87368" y="2880360"/>
            <a:ext cx="557784" cy="18288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87368" y="3273552"/>
            <a:ext cx="557784" cy="182880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87368" y="3666744"/>
            <a:ext cx="557784" cy="18288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87368" y="4059936"/>
            <a:ext cx="557784" cy="1828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03520" y="2331720"/>
            <a:ext cx="777240" cy="2423160"/>
          </a:xfrm>
          <a:prstGeom prst="roundRect">
            <a:avLst/>
          </a:prstGeom>
          <a:solidFill>
            <a:srgbClr val="2B3E56"/>
          </a:solidFill>
          <a:ln>
            <a:solidFill>
              <a:srgbClr val="3E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13248" y="2487168"/>
            <a:ext cx="557784" cy="18288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13248" y="2880360"/>
            <a:ext cx="557784" cy="182880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13248" y="3273552"/>
            <a:ext cx="557784" cy="18288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13248" y="3666744"/>
            <a:ext cx="557784" cy="1828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13248" y="4059936"/>
            <a:ext cx="557784" cy="182880"/>
          </a:xfrm>
          <a:prstGeom prst="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51560" y="5212080"/>
            <a:ext cx="777240" cy="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828800" y="4892040"/>
            <a:ext cx="0" cy="32004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28800" y="4892040"/>
            <a:ext cx="2011680" cy="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840480" y="2743200"/>
            <a:ext cx="0" cy="214884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840480" y="2743200"/>
            <a:ext cx="1325880" cy="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66360" y="2743200"/>
            <a:ext cx="0" cy="251460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166360" y="5257800"/>
            <a:ext cx="1554480" cy="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14400" y="5056632"/>
            <a:ext cx="310896" cy="310896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65392" y="5102352"/>
            <a:ext cx="310896" cy="310896"/>
          </a:xfrm>
          <a:prstGeom prst="ellipse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50468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800" b="1">
                <a:solidFill>
                  <a:srgbClr val="4ADE80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50468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800" b="1">
                <a:solidFill>
                  <a:srgbClr val="FB923C"/>
                </a:solidFill>
                <a:latin typeface="Aptos"/>
              </a:defRPr>
            </a:pPr>
            <a:r>
              <a:t>ITEM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26679" y="1874519"/>
            <a:ext cx="3566160" cy="105156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26679" y="1874519"/>
            <a:ext cx="64008" cy="105156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27848" y="203911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14B8A6"/>
                </a:solidFill>
                <a:latin typeface="Aptos"/>
              </a:defRPr>
            </a:pPr>
            <a:r>
              <a:t>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76488" y="2039112"/>
            <a:ext cx="260603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Search product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2532887"/>
            <a:ext cx="3108960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Example: “Pasta” → Aisle 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26679" y="3154680"/>
            <a:ext cx="3566160" cy="105156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26679" y="3154680"/>
            <a:ext cx="64008" cy="10515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27848" y="331927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38BDF8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76488" y="3319272"/>
            <a:ext cx="260603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Route guidance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3813048"/>
            <a:ext cx="3108960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Show aisle, shelf zone, and path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26679" y="4434840"/>
            <a:ext cx="3566160" cy="105156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26679" y="4434840"/>
            <a:ext cx="64008" cy="1051560"/>
          </a:xfrm>
          <a:prstGeom prst="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27848" y="4599431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FB923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76488" y="4599431"/>
            <a:ext cx="260603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Live cart status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5093207"/>
            <a:ext cx="3108960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Found item can be added to the bill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18120" y="5715000"/>
            <a:ext cx="3383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B7C4D8"/>
                </a:solidFill>
                <a:latin typeface="Aptos"/>
              </a:defRPr>
            </a:pPr>
            <a:r>
              <a:t>Prototype note: start with a static store map; add indoor positioning only if hardware and budget allow.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4B8A6"/>
                </a:solidFill>
                <a:latin typeface="Aptos"/>
              </a:defRPr>
            </a:pPr>
            <a:r>
              <a:t>07  /  SMART BILLING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Security &amp; Loss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7C4D8"/>
                </a:solidFill>
                <a:latin typeface="Aptos"/>
              </a:defRPr>
            </a:pPr>
            <a:r>
              <a:t>RFID can support verification—but it should not be the only security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27080" cy="22860"/>
          </a:xfrm>
          <a:prstGeom prst="rect">
            <a:avLst/>
          </a:prstGeom>
          <a:solidFill>
            <a:srgbClr val="182642"/>
          </a:solidFill>
          <a:ln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B7C4D8"/>
                </a:solidFill>
                <a:latin typeface="Aptos"/>
              </a:defRPr>
            </a:pPr>
            <a:r>
              <a:t>HACKATHON CONCEPT  •  SMART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B8A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474720" cy="192024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192024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14B8A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039112"/>
            <a:ext cx="2514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Paid-bill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7"/>
            <a:ext cx="301752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Exit reader compares detected tagged items with the paid transaction.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74720" cy="192024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64008" cy="1920240"/>
          </a:xfrm>
          <a:prstGeom prst="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03911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FB923C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039112"/>
            <a:ext cx="2514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Exception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32887"/>
            <a:ext cx="301752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Flag mismatches for staff review instead of automatically accusing a customer.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74519"/>
            <a:ext cx="3474720" cy="192024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874519"/>
            <a:ext cx="64008" cy="19202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03911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38BDF8"/>
                </a:solidFill>
                <a:latin typeface="Aptos"/>
              </a:defRPr>
            </a:pPr>
            <a: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039112"/>
            <a:ext cx="2514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Privacy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32887"/>
            <a:ext cx="301752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Use limited data, secure access, and clear customer notices.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B8A6"/>
                </a:solidFill>
                <a:latin typeface="Aptos"/>
              </a:defRPr>
            </a:pPr>
            <a:r>
              <a:t>Important safeguards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846320"/>
            <a:ext cx="109728" cy="109728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4754880"/>
            <a:ext cx="103601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8FAFC"/>
                </a:solidFill>
                <a:latin typeface="Aptos"/>
              </a:defRPr>
            </a:pPr>
            <a:r>
              <a:t>Test RFID read accuracy around metal, liquids, and crowded carts.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5230368"/>
            <a:ext cx="109728" cy="109728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5138928"/>
            <a:ext cx="103601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8FAFC"/>
                </a:solidFill>
                <a:latin typeface="Aptos"/>
              </a:defRPr>
            </a:pPr>
            <a:r>
              <a:t>Provide a manual checkout / staff-assisted path for failed reads.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5614416"/>
            <a:ext cx="109728" cy="109728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522976"/>
            <a:ext cx="103601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8FAFC"/>
                </a:solidFill>
                <a:latin typeface="Aptos"/>
              </a:defRPr>
            </a:pPr>
            <a:r>
              <a:t>Protect payment data; use a trusted payment provider and avoid storing card details.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4B8A6"/>
                </a:solidFill>
                <a:latin typeface="Aptos"/>
              </a:defRPr>
            </a:pPr>
            <a:r>
              <a:t>08  /  SMART BILLING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Expected Benefits &amp; How We Measure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7C4D8"/>
                </a:solidFill>
                <a:latin typeface="Aptos"/>
              </a:defRPr>
            </a:pPr>
            <a:r>
              <a:t>Treat these as pilot targets to validate—not guaranteed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27080" cy="22860"/>
          </a:xfrm>
          <a:prstGeom prst="rect">
            <a:avLst/>
          </a:prstGeom>
          <a:solidFill>
            <a:srgbClr val="182642"/>
          </a:solidFill>
          <a:ln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B7C4D8"/>
                </a:solidFill>
                <a:latin typeface="Aptos"/>
              </a:defRPr>
            </a:pPr>
            <a:r>
              <a:t>HACKATHON CONCEPT  •  SMART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B8A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57800" cy="132588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132588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14B8A6"/>
                </a:solidFill>
                <a:latin typeface="Aptos"/>
              </a:defRPr>
            </a:pPr>
            <a:r>
              <a:t>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93392"/>
            <a:ext cx="4297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Checkout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48006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Measure median time per basket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28800"/>
            <a:ext cx="5257800" cy="132588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828800"/>
            <a:ext cx="64008" cy="13258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99339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38BDF8"/>
                </a:solidFill>
                <a:latin typeface="Aptos"/>
              </a:defRPr>
            </a:pPr>
            <a:r>
              <a:t>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1993392"/>
            <a:ext cx="4297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Queue length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87168"/>
            <a:ext cx="48006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Count people waiting at peak times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20440"/>
            <a:ext cx="5257800" cy="132588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520440"/>
            <a:ext cx="64008" cy="1325880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8503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4ADE8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685032"/>
            <a:ext cx="4297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Billing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178808"/>
            <a:ext cx="48006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Compare cart contents with final bill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520440"/>
            <a:ext cx="5257800" cy="1325880"/>
          </a:xfrm>
          <a:prstGeom prst="roundRect">
            <a:avLst/>
          </a:prstGeom>
          <a:solidFill>
            <a:srgbClr val="182642"/>
          </a:solidFill>
          <a:ln>
            <a:solidFill>
              <a:srgbClr val="2B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520440"/>
            <a:ext cx="64008" cy="1325880"/>
          </a:xfrm>
          <a:prstGeom prst="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3685032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FB923C"/>
                </a:solidFill>
                <a:latin typeface="Aptos"/>
              </a:defRPr>
            </a:pPr>
            <a: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3685032"/>
            <a:ext cx="4297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User satisfaction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78808"/>
            <a:ext cx="48006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Short customer feedback survey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532120"/>
            <a:ext cx="10332720" cy="502920"/>
          </a:xfrm>
          <a:prstGeom prst="roundRect">
            <a:avLst/>
          </a:prstGeom>
          <a:solidFill>
            <a:srgbClr val="113942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669280"/>
            <a:ext cx="9966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Pilot success = faster checkout + accurate bills + customers who trust the process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4B8A6"/>
                </a:solidFill>
                <a:latin typeface="Aptos"/>
              </a:defRPr>
            </a:pPr>
            <a:r>
              <a:t>09  /  SMART BILLING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Prototype Plan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7C4D8"/>
                </a:solidFill>
                <a:latin typeface="Aptos"/>
              </a:defRPr>
            </a:pPr>
            <a:r>
              <a:t>Build the smallest working demo first, then expand based on test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73952"/>
            <a:ext cx="10927080" cy="22860"/>
          </a:xfrm>
          <a:prstGeom prst="rect">
            <a:avLst/>
          </a:prstGeom>
          <a:solidFill>
            <a:srgbClr val="182642"/>
          </a:solidFill>
          <a:ln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B7C4D8"/>
                </a:solidFill>
                <a:latin typeface="Aptos"/>
              </a:defRPr>
            </a:pPr>
            <a:r>
              <a:t>HACKATHON CONCEPT  •  SMART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B8A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48840"/>
            <a:ext cx="2487168" cy="2103120"/>
          </a:xfrm>
          <a:prstGeom prst="roundRect">
            <a:avLst/>
          </a:prstGeom>
          <a:solidFill>
            <a:srgbClr val="182642"/>
          </a:solidFill>
          <a:ln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395728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B8A6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16352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Clickable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337560"/>
            <a:ext cx="2103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Store map, product search, mock cart and receipt.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926080"/>
            <a:ext cx="29260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148840"/>
            <a:ext cx="2487168" cy="2103120"/>
          </a:xfrm>
          <a:prstGeom prst="roundRect">
            <a:avLst/>
          </a:prstGeom>
          <a:solidFill>
            <a:srgbClr val="182642"/>
          </a:solidFill>
          <a:ln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2395728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B8A6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816352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QR billing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337560"/>
            <a:ext cx="2103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Product QR labels, phone scan, price lookup.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926080"/>
            <a:ext cx="29260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2148840"/>
            <a:ext cx="2487168" cy="2103120"/>
          </a:xfrm>
          <a:prstGeom prst="roundRect">
            <a:avLst/>
          </a:prstGeom>
          <a:solidFill>
            <a:srgbClr val="182642"/>
          </a:solidFill>
          <a:ln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95728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B8A6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816352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RFID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337560"/>
            <a:ext cx="2103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Reader + sample tags, item matching, exit test.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2926080"/>
            <a:ext cx="29260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2015" y="2148840"/>
            <a:ext cx="2487168" cy="2103120"/>
          </a:xfrm>
          <a:prstGeom prst="roundRect">
            <a:avLst/>
          </a:prstGeom>
          <a:solidFill>
            <a:srgbClr val="182642"/>
          </a:solidFill>
          <a:ln>
            <a:solidFill>
              <a:srgbClr val="30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6607" y="2395728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B923C"/>
                </a:solidFill>
                <a:latin typeface="Aptos"/>
              </a:defRPr>
            </a:pPr>
            <a: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816352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5" y="3337560"/>
            <a:ext cx="2103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7C4D8"/>
                </a:solidFill>
                <a:latin typeface="Aptos"/>
              </a:defRPr>
            </a:pPr>
            <a:r>
              <a:t>Timed trials, accuracy tests, user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4B8A6"/>
                </a:solidFill>
                <a:latin typeface="Aptos"/>
              </a:defRPr>
            </a:pPr>
            <a:r>
              <a:t>Demo hardware (optional)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394959"/>
            <a:ext cx="109728" cy="109728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1288" y="5303520"/>
            <a:ext cx="100858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F8FAFC"/>
                </a:solidFill>
                <a:latin typeface="Aptos"/>
              </a:defRPr>
            </a:pPr>
            <a:r>
              <a:t>Smartphone camera + printed QR labels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714999"/>
            <a:ext cx="109728" cy="109728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1288" y="5623559"/>
            <a:ext cx="100858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F8FAFC"/>
                </a:solidFill>
                <a:latin typeface="Aptos"/>
              </a:defRPr>
            </a:pPr>
            <a:r>
              <a:t>RFID reader and sample passive tags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6035040"/>
            <a:ext cx="109728" cy="109728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1288" y="5943600"/>
            <a:ext cx="100858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F8FAFC"/>
                </a:solidFill>
                <a:latin typeface="Aptos"/>
              </a:defRPr>
            </a:pPr>
            <a:r>
              <a:t>Laptop / cloud database, test payment sandbox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48640"/>
            <a:ext cx="4389120" cy="4389120"/>
          </a:xfrm>
          <a:prstGeom prst="ellipse">
            <a:avLst/>
          </a:prstGeom>
          <a:solidFill>
            <a:srgbClr val="182642"/>
          </a:solidFill>
          <a:ln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11480"/>
            <a:ext cx="2468880" cy="2468880"/>
          </a:xfrm>
          <a:prstGeom prst="ellipse">
            <a:avLst/>
          </a:prstGeom>
          <a:solidFill>
            <a:srgbClr val="1D3952"/>
          </a:solidFill>
          <a:ln>
            <a:solidFill>
              <a:srgbClr val="1D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14B8A6"/>
                </a:solidFill>
                <a:latin typeface="Aptos"/>
              </a:defRPr>
            </a:pPr>
            <a:r>
              <a:t>10  /  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76656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800" b="1">
                <a:solidFill>
                  <a:srgbClr val="F8FAFC"/>
                </a:solidFill>
                <a:latin typeface="Aptos"/>
              </a:defRPr>
            </a:pPr>
            <a:r>
              <a:t>Less waiting.</a:t>
            </a:r>
          </a:p>
          <a:p>
            <a:pPr algn="l">
              <a:spcAft>
                <a:spcPts val="700"/>
              </a:spcAft>
              <a:defRPr sz="3800" b="1">
                <a:solidFill>
                  <a:srgbClr val="F8FAFC"/>
                </a:solidFill>
                <a:latin typeface="Aptos"/>
              </a:defRPr>
            </a:pPr>
            <a:r>
              <a:t>More shopping.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65836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B7C4D8"/>
                </a:solidFill>
                <a:latin typeface="Aptos"/>
              </a:defRPr>
            </a:pPr>
            <a:r>
              <a:t>A practical smart-retail concept that brings together quick product identification, transparent billing, product-finding guidance, and responsible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617720"/>
            <a:ext cx="2103120" cy="640080"/>
          </a:xfrm>
          <a:prstGeom prst="roundRect">
            <a:avLst/>
          </a:prstGeom>
          <a:solidFill>
            <a:srgbClr val="182642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18888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14B8A6"/>
                </a:solidFill>
                <a:latin typeface="Aptos"/>
              </a:defRPr>
            </a:pPr>
            <a:r>
              <a:t>QR = accessible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4617720"/>
            <a:ext cx="2103120" cy="640080"/>
          </a:xfrm>
          <a:prstGeom prst="roundRect">
            <a:avLst/>
          </a:prstGeom>
          <a:solidFill>
            <a:srgbClr val="18264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818888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38BDF8"/>
                </a:solidFill>
                <a:latin typeface="Aptos"/>
              </a:defRPr>
            </a:pPr>
            <a:r>
              <a:t>RFID = fast identification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79" y="4617720"/>
            <a:ext cx="2103120" cy="640080"/>
          </a:xfrm>
          <a:prstGeom prst="roundRect">
            <a:avLst/>
          </a:prstGeom>
          <a:solidFill>
            <a:srgbClr val="182642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4818888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B923C"/>
                </a:solidFill>
                <a:latin typeface="Aptos"/>
              </a:defRPr>
            </a:pPr>
            <a:r>
              <a:t>Smart app = clear billing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97880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8FAFC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989320"/>
            <a:ext cx="374903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B7C4D8"/>
                </a:solidFill>
                <a:latin typeface="Aptos"/>
              </a:defRPr>
            </a:pPr>
            <a:r>
              <a:t>Presented by: [Your Name / Team]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B8A6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3DD3E8"/>
                </a:solidFill>
                <a:latin typeface="Aptos"/>
              </a:defRPr>
            </a:pPr>
            <a:r>
              <a:t>10  /  BUSINESS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F4F8FC"/>
                </a:solidFill>
                <a:latin typeface="Aptos"/>
              </a:defRPr>
            </a:pPr>
            <a:r>
              <a:t>Potential Annual Labour-Cost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B0C3D8"/>
                </a:solidFill>
                <a:latin typeface="Aptos"/>
              </a:defRPr>
            </a:pPr>
            <a:r>
              <a:t>Smart billing can reduce routine checkout workload and let staff focus on customer support, replenishment, and store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1155680" cy="1051560"/>
          </a:xfrm>
          <a:prstGeom prst="roundRect">
            <a:avLst/>
          </a:prstGeom>
          <a:solidFill>
            <a:srgbClr val="172A43"/>
          </a:solidFill>
          <a:ln w="12700">
            <a:solidFill>
              <a:srgbClr val="28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75104"/>
            <a:ext cx="3749039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68E0AA"/>
                </a:solidFill>
                <a:latin typeface="Aptos"/>
              </a:defRPr>
            </a:pPr>
            <a:r>
              <a:t>₹6–19 lakh+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32304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4F8FC"/>
                </a:solidFill>
                <a:latin typeface="Aptos"/>
              </a:defRPr>
            </a:pPr>
            <a:r>
              <a:t>Indicative potential savings per store /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39112"/>
            <a:ext cx="55778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B0C3D8"/>
                </a:solidFill>
                <a:latin typeface="Aptos"/>
              </a:defRPr>
            </a:pPr>
            <a:r>
              <a:t>Actual savings depend on store size, staffing levels, adoption, and the costs of deploying and maintaining the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54680"/>
            <a:ext cx="5440680" cy="1965960"/>
          </a:xfrm>
          <a:prstGeom prst="roundRect">
            <a:avLst/>
          </a:prstGeom>
          <a:solidFill>
            <a:srgbClr val="172A43"/>
          </a:solidFill>
          <a:ln w="12700">
            <a:solidFill>
              <a:srgbClr val="28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154680"/>
            <a:ext cx="5440680" cy="1965960"/>
          </a:xfrm>
          <a:prstGeom prst="roundRect">
            <a:avLst/>
          </a:prstGeom>
          <a:solidFill>
            <a:srgbClr val="172A43"/>
          </a:solidFill>
          <a:ln w="12700">
            <a:solidFill>
              <a:srgbClr val="28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4846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3DD3E8"/>
                </a:solidFill>
                <a:latin typeface="Aptos"/>
              </a:defRPr>
            </a:pPr>
            <a:r>
              <a:t>GROCERY CASHIERS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67328"/>
            <a:ext cx="4800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4F8FC"/>
                </a:solidFill>
                <a:latin typeface="Aptos"/>
              </a:defRPr>
            </a:pPr>
            <a:r>
              <a:t>₹15,000–₹22,000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24528"/>
            <a:ext cx="48006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B0C3D8"/>
                </a:solidFill>
                <a:latin typeface="Aptos"/>
              </a:defRPr>
            </a:pPr>
            <a:r>
              <a:t>Illustrative staffing impact: 2–5 roles per shift</a:t>
            </a:r>
            <a:br/>
            <a:r>
              <a:t>Annual salary per person: ₹1.8–₹2.64 lakh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4846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3DD3E8"/>
                </a:solidFill>
                <a:latin typeface="Aptos"/>
              </a:defRPr>
            </a:pPr>
            <a:r>
              <a:t>FLOOR / AISLE ASSISTANTS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67328"/>
            <a:ext cx="4800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4F8FC"/>
                </a:solidFill>
                <a:latin typeface="Aptos"/>
              </a:defRPr>
            </a:pPr>
            <a:r>
              <a:t>₹18,000–₹25,000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24528"/>
            <a:ext cx="48006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B0C3D8"/>
                </a:solidFill>
                <a:latin typeface="Aptos"/>
              </a:defRPr>
            </a:pPr>
            <a:r>
              <a:t>Illustrative staffing impact: 1–3 roles per shift</a:t>
            </a:r>
            <a:br/>
            <a:r>
              <a:t>Annual salary per person: ₹2.16–₹3 lakh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94960"/>
            <a:ext cx="11155680" cy="713232"/>
          </a:xfrm>
          <a:prstGeom prst="roundRect">
            <a:avLst/>
          </a:prstGeom>
          <a:solidFill>
            <a:srgbClr val="172A43"/>
          </a:solidFill>
          <a:ln w="12700">
            <a:solidFill>
              <a:srgbClr val="28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59552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F4F8FC"/>
                </a:solidFill>
                <a:latin typeface="Aptos"/>
              </a:defRPr>
            </a:pPr>
            <a:r>
              <a:t>Store-owner benefit: lower checkout workload • better staff allocation • smoother customer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91072"/>
            <a:ext cx="10881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B0C3D8"/>
                </a:solidFill>
                <a:latin typeface="Aptos"/>
              </a:defRPr>
            </a:pPr>
            <a:r>
              <a:t>Note: These are rough estimates from the supplied reference, not verified industry averages or guaranteed savings. Validate with local salary and staffing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65392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00" b="1">
                <a:solidFill>
                  <a:srgbClr val="B0C3D8"/>
                </a:solidFill>
                <a:latin typeface="Aptos"/>
              </a:defRPr>
            </a:pPr>
            <a:r>
              <a:t>SUPERMARKET SMART BILLING SYSTEM  •  HACKATHON CONCEPT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65D9FF"/>
                </a:solidFill>
                <a:latin typeface="Aptos"/>
              </a:defRPr>
            </a:pPr>
            <a:r>
              <a:t>11 / CUSTOMER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t>Shop More. Wait Less.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98448"/>
            <a:ext cx="1088136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ECCDE"/>
                </a:solidFill>
                <a:latin typeface="Aptos"/>
              </a:defRPr>
            </a:pPr>
            <a:r>
              <a:t>QR-based self-billing aims to reduce time spent waiting at traditional checkout counters.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2057400"/>
            <a:ext cx="3569208" cy="2971800"/>
          </a:xfrm>
          <a:prstGeom prst="roundRect">
            <a:avLst/>
          </a:prstGeom>
          <a:solidFill>
            <a:srgbClr val="1F354E"/>
          </a:solidFill>
          <a:ln>
            <a:solidFill>
              <a:srgbClr val="39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59152"/>
            <a:ext cx="3112008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65D9FF"/>
                </a:solidFill>
                <a:latin typeface="Aptos"/>
              </a:defRPr>
            </a:pPr>
            <a:r>
              <a:t>25–30 min*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035808"/>
            <a:ext cx="3112008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Less waiting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675887"/>
            <a:ext cx="3112008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ECCDE"/>
                </a:solidFill>
                <a:latin typeface="Aptos"/>
              </a:defRPr>
            </a:pPr>
            <a:r>
              <a:t>Customers scan items, review their bill, and pay through the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0728" y="2057400"/>
            <a:ext cx="3569208" cy="2971800"/>
          </a:xfrm>
          <a:prstGeom prst="roundRect">
            <a:avLst/>
          </a:prstGeom>
          <a:solidFill>
            <a:srgbClr val="1F354E"/>
          </a:solidFill>
          <a:ln>
            <a:solidFill>
              <a:srgbClr val="39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9328" y="2359152"/>
            <a:ext cx="3112008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65D9FF"/>
                </a:solidFill>
                <a:latin typeface="Aptos"/>
              </a:defRPr>
            </a:pPr>
            <a:r>
              <a:t>47 min*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9328" y="3035808"/>
            <a:ext cx="3112008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More time to 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9328" y="3675887"/>
            <a:ext cx="3112008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ECCDE"/>
                </a:solidFill>
                <a:latin typeface="Aptos"/>
              </a:defRPr>
            </a:pPr>
            <a:r>
              <a:t>Spend more time choosing products instead of standing in a queue.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1104" y="2057400"/>
            <a:ext cx="3569208" cy="2971800"/>
          </a:xfrm>
          <a:prstGeom prst="roundRect">
            <a:avLst/>
          </a:prstGeom>
          <a:solidFill>
            <a:srgbClr val="1F354E"/>
          </a:solidFill>
          <a:ln>
            <a:solidFill>
              <a:srgbClr val="39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9704" y="2359152"/>
            <a:ext cx="3112008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65D9FF"/>
                </a:solidFill>
                <a:latin typeface="Aptos"/>
              </a:defRPr>
            </a:pPr>
            <a:r>
              <a:t>LIVE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9704" y="3035808"/>
            <a:ext cx="3112008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Clear, easy billing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9704" y="3675887"/>
            <a:ext cx="3112008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ECCDE"/>
                </a:solidFill>
                <a:latin typeface="Aptos"/>
              </a:defRPr>
            </a:pPr>
            <a:r>
              <a:t>See the running total and receive a digital receipt.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96128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t>*Time figures are estimates from the project concept and should be validated with customer research.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BECCD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65D9FF"/>
                </a:solidFill>
                <a:latin typeface="Aptos"/>
              </a:defRPr>
            </a:pPr>
            <a:r>
              <a:t>12 / STORE-OWNER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t>Lower Workload. Smarter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98448"/>
            <a:ext cx="1088136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ECCDE"/>
                </a:solidFill>
                <a:latin typeface="Aptos"/>
              </a:defRPr>
            </a:pPr>
            <a:r>
              <a:t>Automate routine billing tasks and help staff focus on customers and store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2057400"/>
            <a:ext cx="3569208" cy="2971800"/>
          </a:xfrm>
          <a:prstGeom prst="roundRect">
            <a:avLst/>
          </a:prstGeom>
          <a:solidFill>
            <a:srgbClr val="1F354E"/>
          </a:solidFill>
          <a:ln>
            <a:solidFill>
              <a:srgbClr val="39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59152"/>
            <a:ext cx="3112008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65D9FF"/>
                </a:solidFill>
                <a:latin typeface="Aptos"/>
              </a:defRPr>
            </a:pPr>
            <a:r>
              <a:t>₹6–19 lakh+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035808"/>
            <a:ext cx="3112008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Potential cost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675887"/>
            <a:ext cx="3112008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ECCDE"/>
                </a:solidFill>
                <a:latin typeface="Aptos"/>
              </a:defRPr>
            </a:pPr>
            <a:r>
              <a:t>Illustrative annual labour-cost savings per store; actual results vary.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0728" y="2057400"/>
            <a:ext cx="3569208" cy="2971800"/>
          </a:xfrm>
          <a:prstGeom prst="roundRect">
            <a:avLst/>
          </a:prstGeom>
          <a:solidFill>
            <a:srgbClr val="1F354E"/>
          </a:solidFill>
          <a:ln>
            <a:solidFill>
              <a:srgbClr val="39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9328" y="2359152"/>
            <a:ext cx="3112008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65D9FF"/>
                </a:solidFill>
                <a:latin typeface="Aptos"/>
              </a:defRPr>
            </a:pPr>
            <a:r>
              <a:t>SMARTER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9328" y="3035808"/>
            <a:ext cx="3112008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Better staff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9328" y="3675887"/>
            <a:ext cx="3112008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ECCDE"/>
                </a:solidFill>
                <a:latin typeface="Aptos"/>
              </a:defRPr>
            </a:pPr>
            <a:r>
              <a:t>Staff can support shoppers, replenish shelves, and manage inventory.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1104" y="2057400"/>
            <a:ext cx="3569208" cy="2971800"/>
          </a:xfrm>
          <a:prstGeom prst="roundRect">
            <a:avLst/>
          </a:prstGeom>
          <a:solidFill>
            <a:srgbClr val="1F354E"/>
          </a:solidFill>
          <a:ln>
            <a:solidFill>
              <a:srgbClr val="39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9704" y="2359152"/>
            <a:ext cx="3112008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65D9FF"/>
                </a:solidFill>
                <a:latin typeface="Aptos"/>
              </a:defRPr>
            </a:pPr>
            <a:r>
              <a:t>LESS QUEUING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9704" y="3035808"/>
            <a:ext cx="3112008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Improved store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9704" y="3675887"/>
            <a:ext cx="3112008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BECCDE"/>
                </a:solidFill>
                <a:latin typeface="Aptos"/>
              </a:defRPr>
            </a:pPr>
            <a:r>
              <a:t>Fewer checkout bottlenecks may improve the shopping experience.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96128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t>Savings are estimates, not guaranteed. Validate local salaries, staffing needs, and deployment costs.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>
                <a:solidFill>
                  <a:srgbClr val="BECCDE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Smart Billing System</dc:title>
  <dc:subject>10-slide hackathon presentation on QR and RFID smart billing</dc:subject>
  <dc:creator>OpenAI</dc:creator>
  <cp:keywords>hackathon, supermarket, QR code, RFID, smart billing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